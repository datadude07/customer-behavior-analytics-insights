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Syne"/>
      <p:regular r:id="rId201316"/>
    </p:embeddedFont>
    <p:embeddedFont>
      <p:font typeface="Syn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66690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3552726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end-to-end analytics project: Python (pandas) → SQL Server → Power BI. Objective: uncover spending patterns, segments, preferences, and subscription behavior from 3,900 transactions to guide strategy.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11700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Snapshot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002830"/>
            <a:ext cx="3012107" cy="2088555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897510" y="2202259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7510" y="2615208"/>
            <a:ext cx="261325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3,900 transactions · 18 columns · 37 nulls in review_rating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3909617" y="2002830"/>
            <a:ext cx="3012107" cy="2088555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4109042" y="2202259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09042" y="2615208"/>
            <a:ext cx="2613257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(pandas) · SQL Server (SSMS) via SQLAlchemy+pyodbc · Power BI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8086" y="4290814"/>
            <a:ext cx="6223638" cy="1450181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897510" y="4490244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Goal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97510" y="4903192"/>
            <a:ext cx="582478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Identify patterns to inform subscriptions, loyalty, discounts, and product positioning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6594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Preparation Highlights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10" y="2536130"/>
            <a:ext cx="4412346" cy="25003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8964" y="1653580"/>
            <a:ext cx="84731" cy="84733"/>
          </a:xfrm>
          <a:prstGeom prst="ellipse">
            <a:avLst/>
          </a:prstGeom>
          <a:solidFill>
            <a:srgbClr val="8061FF"/>
          </a:solidFill>
          <a:ln/>
        </p:spPr>
      </p:sp>
      <p:sp>
        <p:nvSpPr>
          <p:cNvPr id="5" name="Text 2"/>
          <p:cNvSpPr/>
          <p:nvPr/>
        </p:nvSpPr>
        <p:spPr>
          <a:xfrm>
            <a:off x="6537757" y="1563489"/>
            <a:ext cx="496220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Missing Data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537757" y="1956891"/>
            <a:ext cx="496220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37 nulls in review_rating — imputed with category median to preserve patterns.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8964" y="2837061"/>
            <a:ext cx="84731" cy="84733"/>
          </a:xfrm>
          <a:prstGeom prst="ellipse">
            <a:avLst/>
          </a:prstGeom>
          <a:solidFill>
            <a:srgbClr val="8061FF"/>
          </a:solidFill>
          <a:ln/>
        </p:spPr>
      </p:sp>
      <p:sp>
        <p:nvSpPr>
          <p:cNvPr id="8" name="Text 5"/>
          <p:cNvSpPr/>
          <p:nvPr/>
        </p:nvSpPr>
        <p:spPr>
          <a:xfrm>
            <a:off x="6537757" y="2746970"/>
            <a:ext cx="496220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Column Standardization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537757" y="3140373"/>
            <a:ext cx="496220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Renamed to snake_case (e.g., purchase_amount) for SQL compatibility.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8964" y="4020542"/>
            <a:ext cx="84731" cy="84733"/>
          </a:xfrm>
          <a:prstGeom prst="ellipse">
            <a:avLst/>
          </a:prstGeom>
          <a:solidFill>
            <a:srgbClr val="8061FF"/>
          </a:solidFill>
          <a:ln/>
        </p:spPr>
      </p:sp>
      <p:sp>
        <p:nvSpPr>
          <p:cNvPr id="11" name="Text 8"/>
          <p:cNvSpPr/>
          <p:nvPr/>
        </p:nvSpPr>
        <p:spPr>
          <a:xfrm>
            <a:off x="6537757" y="3930452"/>
            <a:ext cx="496220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37757" y="4323854"/>
            <a:ext cx="496220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age_group via quartile bins; purchase_frequency_days mapped from text cadence.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8964" y="5204023"/>
            <a:ext cx="84731" cy="84733"/>
          </a:xfrm>
          <a:prstGeom prst="ellipse">
            <a:avLst/>
          </a:prstGeom>
          <a:solidFill>
            <a:srgbClr val="8061FF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757" y="5113933"/>
            <a:ext cx="496220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Redundancy Removed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37757" y="5507335"/>
            <a:ext cx="496220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promo_code_used dropped after confirming it duplicated discount_applied.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71314"/>
            <a:ext cx="6223638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Database Integration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98086" y="1386086"/>
            <a:ext cx="6223638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Cleaned DataFrame loaded into local SQL Server (customer_behavior database) using SQLAlchemy + pyodbc for structured analysis and reporting.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98086" y="2050058"/>
            <a:ext cx="6223638" cy="4136628"/>
          </a:xfrm>
          <a:prstGeom prst="roundRect">
            <a:avLst>
              <a:gd name="adj" fmla="val 615"/>
            </a:avLst>
          </a:prstGeom>
          <a:solidFill>
            <a:srgbClr val="191740"/>
          </a:solidFill>
          <a:ln/>
        </p:spPr>
      </p:sp>
      <p:sp>
        <p:nvSpPr>
          <p:cNvPr id="6" name="Text 3"/>
          <p:cNvSpPr/>
          <p:nvPr/>
        </p:nvSpPr>
        <p:spPr>
          <a:xfrm>
            <a:off x="901479" y="2219523"/>
            <a:ext cx="5816851" cy="379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sqlalchemy import create_engine
from urllib.parse import quote_plus
server = r"SAHIL-PC\SQLEXPRESS"
database = "customer_behavior"
driver = quote_plus("ODBC Driver 17 for SQL Server")
engine = create_engine(
 f"mssql+pyodbc://@{server}/{database}"
 f"?driver={driver}&amp;trusted_connection=yes"
)
df.to_sql("customer", engine, if_exists="replace", index=False)
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94468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Business Questions &amp; Findings (1/2)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930327"/>
            <a:ext cx="755036" cy="943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2452" y="2930327"/>
            <a:ext cx="242792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Q1: Gender Revenue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702452" y="3636566"/>
            <a:ext cx="242792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Female: $75,191 · Male: $157,890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04" y="2930327"/>
            <a:ext cx="755036" cy="9437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84070" y="2930327"/>
            <a:ext cx="242792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Q2: Discount &amp; High Spend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384070" y="3636566"/>
            <a:ext cx="242792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839 customers used discounts yet spent ≥ average — valuable target for promotions.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2" y="2930327"/>
            <a:ext cx="755036" cy="9437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5688" y="2930327"/>
            <a:ext cx="242792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Q3: Top Rated Items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065688" y="3636566"/>
            <a:ext cx="242792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 5 avg ratings: Gloves (3.86), Sandals (3.84), Boots (3.82), Hat (3.80), Skirt (3.78)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2550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Business Questions &amp; Findings (2/2)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611140"/>
            <a:ext cx="755036" cy="943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2452" y="2611140"/>
            <a:ext cx="242792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Q4: Shipping &amp; Spend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702452" y="3317379"/>
            <a:ext cx="242792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Avg purchase: Standard $58.46 · Express $60.48 — Express users spend slightly more.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04" y="2611140"/>
            <a:ext cx="755036" cy="9437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84070" y="2611140"/>
            <a:ext cx="242792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Q5: Subscription Impact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384070" y="3317379"/>
            <a:ext cx="2427921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Subscribers: 1,053 (avg $59.49, total $62,645). Non-subscribers: 2,847 (avg $59.87, total $170,436). Average spend nearly identical.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2" y="2611140"/>
            <a:ext cx="755036" cy="9437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5688" y="2611140"/>
            <a:ext cx="242792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Q6: Discount Rates by Item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065688" y="3317379"/>
            <a:ext cx="242792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 items discounted most: Hat 50.00%, Sneakers 49.66%, Coat 49.07%, Sweater 48.17%, Pants 47.37%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9507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Segmentation &amp; Top Sellers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98086" y="2372420"/>
            <a:ext cx="2493305" cy="2940447"/>
          </a:xfrm>
          <a:prstGeom prst="roundRect">
            <a:avLst>
              <a:gd name="adj" fmla="val 1140"/>
            </a:avLst>
          </a:prstGeom>
          <a:solidFill>
            <a:srgbClr val="0C0A33"/>
          </a:solidFill>
          <a:ln w="25399">
            <a:solidFill>
              <a:srgbClr val="4442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2988" y="2587327"/>
            <a:ext cx="2063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 Segments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12988" y="3324523"/>
            <a:ext cx="2063500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Loyal: 3,116 · Returning: 701 · New: 83 — Loyal customers represent ~80% of base.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71369" y="2372420"/>
            <a:ext cx="2493305" cy="2940447"/>
          </a:xfrm>
          <a:prstGeom prst="roundRect">
            <a:avLst>
              <a:gd name="adj" fmla="val 1140"/>
            </a:avLst>
          </a:prstGeom>
          <a:solidFill>
            <a:srgbClr val="0C0A33"/>
          </a:solidFill>
          <a:ln w="25399">
            <a:solidFill>
              <a:srgbClr val="4442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86271" y="2587327"/>
            <a:ext cx="20635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Repeat Buyers &amp; Subscriptions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586271" y="3324523"/>
            <a:ext cx="2063500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Repeat buyers (&gt;5 previous) — Not Subscribed: 2,518; Subscribed: 958 — many loyal customers are not subscribers.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3371" y="1666776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Top Products by Category (Top 3)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333371" y="2125365"/>
            <a:ext cx="5166588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Accessories: Jewelry, Sunglasses, Belt · Clothing: Blouse, Pants, Shirt · Footwear: Sandals, Shoes, Sneakers · Outerwear: Jacket, Coat</a:t>
            </a:r>
            <a:endParaRPr lang="en-US" sz="14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551" y="3214588"/>
            <a:ext cx="4908229" cy="27813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1046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Revenue by Age Group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421334"/>
            <a:ext cx="3303902" cy="2842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4611" y="1580356"/>
            <a:ext cx="6855249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Revenue distribution is fairly even across age groups; Young Adults lead slightly. Use age-targeted campaigns to nudge preference and conversions.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958" y="2374007"/>
            <a:ext cx="6512457" cy="3690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0947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BI Dashboard &amp; KPIs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196975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KPI Cards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25619" y="1566466"/>
            <a:ext cx="2461853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3.9K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98086" y="2170212"/>
            <a:ext cx="351701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64772" y="1566466"/>
            <a:ext cx="246195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$59.76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337239" y="2170212"/>
            <a:ext cx="35171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Avg Purchase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04025" y="1566466"/>
            <a:ext cx="246195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3.75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76492" y="2170212"/>
            <a:ext cx="351711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Avg Rating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485529"/>
            <a:ext cx="5982046" cy="3481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8086" y="6077248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slicers: subscription status, gender, category, shipping type. Visuals: donut (27% subscribed), revenue &amp; sales by category and age.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061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Recommendations &amp; Conclusion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606252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1805682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218630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Promote exclusive benefits — only 27% subscribed; subscribers and non-subscribers spend similarly.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95560" y="1606252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sp>
        <p:nvSpPr>
          <p:cNvPr id="7" name="Text 5"/>
          <p:cNvSpPr/>
          <p:nvPr/>
        </p:nvSpPr>
        <p:spPr>
          <a:xfrm>
            <a:off x="6394985" y="1805682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Strengthen Loyalty Programs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94985" y="2218630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Reward repeat buyers to convert Returning → Loyal and retain the 3,116 loyal customers.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8086" y="3255863"/>
            <a:ext cx="5298049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897510" y="345529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Review Discount Strategy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7510" y="3868241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Rebalance margin vs. sales — hats and sneakers see discounts in ~50% of purchases.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95560" y="3255863"/>
            <a:ext cx="5298049" cy="1769368"/>
          </a:xfrm>
          <a:prstGeom prst="roundRect">
            <a:avLst>
              <a:gd name="adj" fmla="val 1691"/>
            </a:avLst>
          </a:prstGeom>
          <a:solidFill>
            <a:srgbClr val="2B2952"/>
          </a:solidFill>
          <a:ln/>
        </p:spPr>
      </p:sp>
      <p:sp>
        <p:nvSpPr>
          <p:cNvPr id="13" name="Text 11"/>
          <p:cNvSpPr/>
          <p:nvPr/>
        </p:nvSpPr>
        <p:spPr>
          <a:xfrm>
            <a:off x="6394985" y="345529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Product &amp; Targeting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94985" y="3868241"/>
            <a:ext cx="489920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Highlight top-rated (Gloves, Sandals, Boots) and top-sellers in campaigns; target Young Adults and Express-shipping users.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8086" y="5299373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D9E1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8086" y="5598914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 workflow from Python cleaning → SQL analysis → Power BI dashboard delivered actionable insights to inform subscription growth, loyalty, discounting, and product positioning.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2026-08-01T19:58:41Z</dcterms:created>
  <dcterms:modified xsi:type="dcterms:W3CDTF">2026-08-01T19:58:41Z</dcterms:modified>
</cp:coreProperties>
</file>